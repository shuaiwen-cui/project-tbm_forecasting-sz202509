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59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ECBC9-5390-50AD-E930-8ABAEFEB8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DCED6C-65A2-819F-6CAE-6EB07EC6B6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843B2-9D55-F4E6-E1A3-E501479D3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CED0-4332-4403-BC46-8157852E879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10653-32DF-B2A3-DEA1-BB2017D95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06C44-A73E-C461-478F-F050C75BF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D87C-646D-484A-B758-52FC21BF6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27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3D499-14F5-B49B-54B6-AEA9FE897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DDD7C-C75E-735F-0C83-06F212F31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B855E-8E2D-C355-EBDF-EE993387A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CED0-4332-4403-BC46-8157852E879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EA022-EB3D-B877-7A8B-02DCC3215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D2222-7570-694D-200D-2720E930F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D87C-646D-484A-B758-52FC21BF6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475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42782-6495-987C-6B04-D8DC37E7E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FD61F-CD89-B66C-9575-F46316FCF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09694-3E39-1069-4254-3D9FEF2A1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CED0-4332-4403-BC46-8157852E879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31AB7-7DE5-79E2-C2A8-7DEE36157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85F2C-A950-2BA3-8075-BD4F47CA0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D87C-646D-484A-B758-52FC21BF6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169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38768-26EE-8B86-BE0F-237411645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5C967-87CC-CBD4-9124-BEAEBF1290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47285F-D117-CE6D-A4BD-DD56738E2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46B10-84C4-CD4B-7AED-E61A7B821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CED0-4332-4403-BC46-8157852E879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F5BA23-D496-110B-4907-E98C5A8C1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7AEEB6-B2A3-3CA9-47A7-1ED7E65A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D87C-646D-484A-B758-52FC21BF6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78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90A59-BF21-3173-3402-1C917E393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9BC06-A127-EC62-0FF4-539DDD102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3440D-798B-8C41-3622-BB0F44FC6D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4B7244-930C-C5C3-302A-E453EB1D11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CED87B-2272-334D-1588-D9F1DEC991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422BC5-6655-5942-81A9-D56B6A32A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CED0-4332-4403-BC46-8157852E879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FD9C2D-763A-D964-4CD7-D88D65E93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BB1B7E-0502-6DE1-109E-EDADB2F54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D87C-646D-484A-B758-52FC21BF6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788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80187-5F96-1334-E245-C89C73153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235E68-B76B-F03B-857A-820DDFC5C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CED0-4332-4403-BC46-8157852E879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8ACC6-9CEC-C003-53FA-DCD4C6576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0F467-3A93-CCDF-8479-793E36CFD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D87C-646D-484A-B758-52FC21BF6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077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50F1A8-7B05-2854-8205-BD37FFF6F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CED0-4332-4403-BC46-8157852E879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97CFD8-076D-C271-2E55-2BBA805D1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884A6-425A-5B4C-FAC4-430E792B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D87C-646D-484A-B758-52FC21BF6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23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9B0FC-5731-A930-A78B-8DBD30205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FE2D4-AC04-C27A-9DDF-057B80E94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5F90F0-D3AF-25FD-3700-EFAFE9D35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C90D5-5967-0598-1DE8-FDC1D56EE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CED0-4332-4403-BC46-8157852E879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F29E3-8351-86CD-6410-C7E493165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8537C7-00A8-D39C-5B10-AFF8CF690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D87C-646D-484A-B758-52FC21BF6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164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9925B-EC52-2AF5-57C3-5E083B2EF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F4AA3E-0000-32F8-BC32-BF597F1EF0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3586AA-4FD8-635E-4391-A1BE62BB1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15E63-9AF3-8094-0626-692DA5D6D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CED0-4332-4403-BC46-8157852E879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4E10D-B0B4-8E46-B44D-935A83459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82A82-9BA5-A843-7441-D76D467B2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D87C-646D-484A-B758-52FC21BF6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55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6D4CF-C7C9-E293-D847-9D3EB82AF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87974D-061F-053B-7B50-CEA740364A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1DF9C-5745-BEC1-2128-BCF6459E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CED0-4332-4403-BC46-8157852E879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B5CB8-7681-EFF0-2A6F-D0B7C81DB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FA24F-CE52-0F69-5211-C6015ABBD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D87C-646D-484A-B758-52FC21BF6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244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F5829E-83E1-1B93-845C-AE7133490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B9C090-C70A-9AB4-248E-9F4DAFCF8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FCF48-52BB-6A2C-6A60-E584EA7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CED0-4332-4403-BC46-8157852E879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49F9F-7FCB-82FA-A024-86538D1C6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5174E-5D7F-E9BE-10EC-824721C87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D87C-646D-484A-B758-52FC21BF6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79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2BDF92-DAB7-B64F-B4A4-1B66B4C92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6A5F4-6ECE-5780-AFEA-2C87BD884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41C5C-2C81-2741-6F61-DDFF22B3A7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BECED0-4332-4403-BC46-8157852E879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B800A-D28A-DC3D-60B9-2A75F183A4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0A34B-3202-A249-9B53-3ADB9CD74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CDD87C-646D-484A-B758-52FC21BF6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00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125683-5504-AB65-C2A1-AC801B3BDE1A}"/>
              </a:ext>
            </a:extLst>
          </p:cNvPr>
          <p:cNvSpPr/>
          <p:nvPr/>
        </p:nvSpPr>
        <p:spPr>
          <a:xfrm>
            <a:off x="3511550" y="485615"/>
            <a:ext cx="4014159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数据采集（盾构掘进监测数据）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DC6EFE-5CA4-5538-2D5C-B2623AF0431E}"/>
              </a:ext>
            </a:extLst>
          </p:cNvPr>
          <p:cNvSpPr/>
          <p:nvPr/>
        </p:nvSpPr>
        <p:spPr>
          <a:xfrm>
            <a:off x="3511550" y="1474168"/>
            <a:ext cx="4014159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数据预处理（异常检测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去噪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降维）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85040B-0751-A12E-3E4E-C6B43FF032A7}"/>
              </a:ext>
            </a:extLst>
          </p:cNvPr>
          <p:cNvSpPr/>
          <p:nvPr/>
        </p:nvSpPr>
        <p:spPr>
          <a:xfrm>
            <a:off x="3511550" y="2462721"/>
            <a:ext cx="4014159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特征解耦（主被动量分离）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93AD69-20C2-FB3A-D47D-FD8A4AE310EF}"/>
              </a:ext>
            </a:extLst>
          </p:cNvPr>
          <p:cNvSpPr/>
          <p:nvPr/>
        </p:nvSpPr>
        <p:spPr>
          <a:xfrm>
            <a:off x="3511550" y="3451274"/>
            <a:ext cx="4014159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特征提取与分类（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1D-CNN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37C3A9-9252-17D1-896E-F5254B97743F}"/>
              </a:ext>
            </a:extLst>
          </p:cNvPr>
          <p:cNvSpPr/>
          <p:nvPr/>
        </p:nvSpPr>
        <p:spPr>
          <a:xfrm>
            <a:off x="3511550" y="4439827"/>
            <a:ext cx="4014159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自适应学习（可选）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6EF9D3-8EE7-F97E-A8EF-469295D32FF5}"/>
              </a:ext>
            </a:extLst>
          </p:cNvPr>
          <p:cNvSpPr/>
          <p:nvPr/>
        </p:nvSpPr>
        <p:spPr>
          <a:xfrm>
            <a:off x="3511550" y="5428382"/>
            <a:ext cx="4014159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反馈输出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A54A3B0-D115-6BAB-A7AD-25A3EFBEF51A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5518630" y="930115"/>
            <a:ext cx="0" cy="5440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ABDDE3E-69BB-0A36-1D62-3DA30FB366D3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5518630" y="1918668"/>
            <a:ext cx="0" cy="5440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DEEE5F-2098-A51D-FD13-C400D2376EF2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5518630" y="2907221"/>
            <a:ext cx="0" cy="5440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A5F50F6-60C4-F9D2-6055-E5FB18CD9C6B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5518630" y="3895774"/>
            <a:ext cx="0" cy="5440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E5BAA3A-8972-869B-F95B-E5C7B402F04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5518630" y="4884327"/>
            <a:ext cx="0" cy="5440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5022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98215-0DB6-ACF5-2982-C61B9EAFD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24528D-0072-4450-3AC7-C9E12C4586BC}"/>
              </a:ext>
            </a:extLst>
          </p:cNvPr>
          <p:cNvSpPr/>
          <p:nvPr/>
        </p:nvSpPr>
        <p:spPr>
          <a:xfrm>
            <a:off x="3511551" y="485615"/>
            <a:ext cx="2593222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数据采集单元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5E03E2-3C5B-000C-1840-F16EFCD16ACA}"/>
              </a:ext>
            </a:extLst>
          </p:cNvPr>
          <p:cNvSpPr/>
          <p:nvPr/>
        </p:nvSpPr>
        <p:spPr>
          <a:xfrm>
            <a:off x="3511551" y="1474168"/>
            <a:ext cx="2593222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数据预处理单元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64BE08-8559-37C7-A2F3-8D616C124B1E}"/>
              </a:ext>
            </a:extLst>
          </p:cNvPr>
          <p:cNvSpPr/>
          <p:nvPr/>
        </p:nvSpPr>
        <p:spPr>
          <a:xfrm>
            <a:off x="3511551" y="2462721"/>
            <a:ext cx="2593222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特征解耦单元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EF3960-03A8-1152-F27D-F4505F358120}"/>
              </a:ext>
            </a:extLst>
          </p:cNvPr>
          <p:cNvSpPr/>
          <p:nvPr/>
        </p:nvSpPr>
        <p:spPr>
          <a:xfrm>
            <a:off x="3511551" y="3451274"/>
            <a:ext cx="2593222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地层分类单元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8EFD97-753A-8F7E-558B-2F90F8CEFD23}"/>
              </a:ext>
            </a:extLst>
          </p:cNvPr>
          <p:cNvSpPr/>
          <p:nvPr/>
        </p:nvSpPr>
        <p:spPr>
          <a:xfrm>
            <a:off x="7083632" y="3451274"/>
            <a:ext cx="2593222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自适应学习单元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F2C221-E0D0-42AA-9263-406DFEAFE101}"/>
              </a:ext>
            </a:extLst>
          </p:cNvPr>
          <p:cNvSpPr/>
          <p:nvPr/>
        </p:nvSpPr>
        <p:spPr>
          <a:xfrm>
            <a:off x="3511551" y="4439827"/>
            <a:ext cx="2593222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反馈输出单元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5BFE922-3252-36E3-A3A5-81F20AC8BB72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4808162" y="930115"/>
            <a:ext cx="0" cy="5440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2150095-255D-19EC-1673-43B1F7D45974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4808162" y="1918668"/>
            <a:ext cx="0" cy="5440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C4E7B4F-49A4-D791-D317-A51BEDE6C3FE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4808162" y="2907221"/>
            <a:ext cx="0" cy="5440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4ED7FF7-9285-814B-2836-2742D522562E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6104773" y="3673524"/>
            <a:ext cx="97885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6DA3BE8-C578-6EBF-D039-39A2F7FD318C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4808162" y="3895774"/>
            <a:ext cx="0" cy="5440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4750484-3D18-C2F0-9ED9-5F0C566A3102}"/>
              </a:ext>
            </a:extLst>
          </p:cNvPr>
          <p:cNvSpPr/>
          <p:nvPr/>
        </p:nvSpPr>
        <p:spPr>
          <a:xfrm>
            <a:off x="3502778" y="5329010"/>
            <a:ext cx="2593222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盾构机主控单元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349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0797F-A613-C2D1-179C-EC02B891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B8EAA08B-BE27-DAF5-6BC8-D3C732021951}"/>
              </a:ext>
            </a:extLst>
          </p:cNvPr>
          <p:cNvGrpSpPr/>
          <p:nvPr/>
        </p:nvGrpSpPr>
        <p:grpSpPr>
          <a:xfrm>
            <a:off x="605213" y="177615"/>
            <a:ext cx="8157239" cy="881506"/>
            <a:chOff x="605213" y="243403"/>
            <a:chExt cx="8157239" cy="88150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615E1631-BFEB-2E56-422B-7C5B0989A2BE}"/>
                </a:ext>
              </a:extLst>
            </p:cNvPr>
            <p:cNvSpPr/>
            <p:nvPr/>
          </p:nvSpPr>
          <p:spPr>
            <a:xfrm>
              <a:off x="605213" y="243403"/>
              <a:ext cx="8157239" cy="881506"/>
            </a:xfrm>
            <a:prstGeom prst="roundRect">
              <a:avLst>
                <a:gd name="adj" fmla="val 775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E36B564-99B0-E873-1F00-1DD883D13F70}"/>
                </a:ext>
              </a:extLst>
            </p:cNvPr>
            <p:cNvSpPr/>
            <p:nvPr/>
          </p:nvSpPr>
          <p:spPr>
            <a:xfrm>
              <a:off x="881507" y="493381"/>
              <a:ext cx="2276133" cy="42101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多路数据采集接口</a:t>
              </a:r>
              <a:endParaRPr 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83F4D2D4-4E9C-4E4D-99C9-F73CE3DA4472}"/>
                </a:ext>
              </a:extLst>
            </p:cNvPr>
            <p:cNvSpPr/>
            <p:nvPr/>
          </p:nvSpPr>
          <p:spPr>
            <a:xfrm>
              <a:off x="3507392" y="493381"/>
              <a:ext cx="2276133" cy="42101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时间戳同步模块</a:t>
              </a:r>
              <a:endParaRPr 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9BBED89-19EB-0C1C-D2EB-01447933BCAE}"/>
                </a:ext>
              </a:extLst>
            </p:cNvPr>
            <p:cNvSpPr/>
            <p:nvPr/>
          </p:nvSpPr>
          <p:spPr>
            <a:xfrm>
              <a:off x="6096000" y="493380"/>
              <a:ext cx="2276133" cy="42101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数据缓存模块</a:t>
              </a:r>
              <a:endParaRPr 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ABDDEFA-D688-B05B-B75B-06A8E7D288B0}"/>
              </a:ext>
            </a:extLst>
          </p:cNvPr>
          <p:cNvGrpSpPr/>
          <p:nvPr/>
        </p:nvGrpSpPr>
        <p:grpSpPr>
          <a:xfrm>
            <a:off x="605213" y="1301868"/>
            <a:ext cx="8157239" cy="881506"/>
            <a:chOff x="605213" y="1374886"/>
            <a:chExt cx="8157239" cy="881506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4F69997C-A3D3-48A6-38F5-A3266896E480}"/>
                </a:ext>
              </a:extLst>
            </p:cNvPr>
            <p:cNvSpPr/>
            <p:nvPr/>
          </p:nvSpPr>
          <p:spPr>
            <a:xfrm>
              <a:off x="605213" y="1374886"/>
              <a:ext cx="8157239" cy="881506"/>
            </a:xfrm>
            <a:prstGeom prst="roundRect">
              <a:avLst>
                <a:gd name="adj" fmla="val 775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EDCBDDBE-0952-5A2C-C24D-BFAC4133E041}"/>
                </a:ext>
              </a:extLst>
            </p:cNvPr>
            <p:cNvSpPr/>
            <p:nvPr/>
          </p:nvSpPr>
          <p:spPr>
            <a:xfrm>
              <a:off x="881507" y="1624864"/>
              <a:ext cx="2276133" cy="42101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异常检测模块</a:t>
              </a:r>
              <a:endParaRPr 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F6BD670-2C01-ECC3-9974-534459ED9B26}"/>
                </a:ext>
              </a:extLst>
            </p:cNvPr>
            <p:cNvSpPr/>
            <p:nvPr/>
          </p:nvSpPr>
          <p:spPr>
            <a:xfrm>
              <a:off x="3507392" y="1624864"/>
              <a:ext cx="2276133" cy="42101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去噪模块</a:t>
              </a:r>
              <a:endParaRPr 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63354971-20C3-F4AC-6503-89660F01FA84}"/>
                </a:ext>
              </a:extLst>
            </p:cNvPr>
            <p:cNvSpPr/>
            <p:nvPr/>
          </p:nvSpPr>
          <p:spPr>
            <a:xfrm>
              <a:off x="6096000" y="1624863"/>
              <a:ext cx="2276133" cy="42101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降维模块</a:t>
              </a:r>
              <a:endParaRPr 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2D13569-19DE-7AD1-6C6C-2A0F2D91BECC}"/>
              </a:ext>
            </a:extLst>
          </p:cNvPr>
          <p:cNvGrpSpPr/>
          <p:nvPr/>
        </p:nvGrpSpPr>
        <p:grpSpPr>
          <a:xfrm>
            <a:off x="605213" y="2426121"/>
            <a:ext cx="8157239" cy="881506"/>
            <a:chOff x="605213" y="2547494"/>
            <a:chExt cx="8157239" cy="881506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1725C836-97B3-71D2-F494-FC0CBF86C03C}"/>
                </a:ext>
              </a:extLst>
            </p:cNvPr>
            <p:cNvSpPr/>
            <p:nvPr/>
          </p:nvSpPr>
          <p:spPr>
            <a:xfrm>
              <a:off x="605213" y="2547494"/>
              <a:ext cx="8157239" cy="881506"/>
            </a:xfrm>
            <a:prstGeom prst="roundRect">
              <a:avLst>
                <a:gd name="adj" fmla="val 775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95D7A721-6F5B-7173-A8DB-7A6BD378AAEA}"/>
                </a:ext>
              </a:extLst>
            </p:cNvPr>
            <p:cNvSpPr/>
            <p:nvPr/>
          </p:nvSpPr>
          <p:spPr>
            <a:xfrm>
              <a:off x="881507" y="2797472"/>
              <a:ext cx="2276133" cy="42101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协方差计算模块</a:t>
              </a:r>
              <a:endParaRPr 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8467A5F8-4587-E313-9E6C-DBB0D0904F8A}"/>
                </a:ext>
              </a:extLst>
            </p:cNvPr>
            <p:cNvSpPr/>
            <p:nvPr/>
          </p:nvSpPr>
          <p:spPr>
            <a:xfrm>
              <a:off x="3507392" y="2797472"/>
              <a:ext cx="2276133" cy="42101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响应系数分析模块</a:t>
              </a:r>
              <a:endParaRPr 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2F914DCC-A9A4-E890-DC6D-EA749A98AE2C}"/>
                </a:ext>
              </a:extLst>
            </p:cNvPr>
            <p:cNvSpPr/>
            <p:nvPr/>
          </p:nvSpPr>
          <p:spPr>
            <a:xfrm>
              <a:off x="6096000" y="2797471"/>
              <a:ext cx="2276133" cy="42101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特征分类模块</a:t>
              </a:r>
              <a:endParaRPr 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BAC466D-34CC-9CF2-93F0-69E0B9974B31}"/>
              </a:ext>
            </a:extLst>
          </p:cNvPr>
          <p:cNvGrpSpPr/>
          <p:nvPr/>
        </p:nvGrpSpPr>
        <p:grpSpPr>
          <a:xfrm>
            <a:off x="605213" y="3550374"/>
            <a:ext cx="8157239" cy="881506"/>
            <a:chOff x="605213" y="3678977"/>
            <a:chExt cx="8157239" cy="881506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DD5730F8-BD23-A1F8-4756-1224A441C4F7}"/>
                </a:ext>
              </a:extLst>
            </p:cNvPr>
            <p:cNvSpPr/>
            <p:nvPr/>
          </p:nvSpPr>
          <p:spPr>
            <a:xfrm>
              <a:off x="605213" y="3678977"/>
              <a:ext cx="8157239" cy="881506"/>
            </a:xfrm>
            <a:prstGeom prst="roundRect">
              <a:avLst>
                <a:gd name="adj" fmla="val 775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D0F3A7E0-58B3-127B-344E-040656D299F5}"/>
                </a:ext>
              </a:extLst>
            </p:cNvPr>
            <p:cNvSpPr/>
            <p:nvPr/>
          </p:nvSpPr>
          <p:spPr>
            <a:xfrm>
              <a:off x="2019573" y="3928955"/>
              <a:ext cx="2276133" cy="42101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模型推理引擎</a:t>
              </a:r>
              <a:endParaRPr 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A373BA94-CF91-B08A-F5B4-C68CC5A331F0}"/>
                </a:ext>
              </a:extLst>
            </p:cNvPr>
            <p:cNvSpPr/>
            <p:nvPr/>
          </p:nvSpPr>
          <p:spPr>
            <a:xfrm>
              <a:off x="4957933" y="3928955"/>
              <a:ext cx="2276133" cy="42101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结果输出模块</a:t>
              </a:r>
              <a:endParaRPr 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E164E4C-5ECC-C09D-474F-D65F3692C50D}"/>
              </a:ext>
            </a:extLst>
          </p:cNvPr>
          <p:cNvGrpSpPr/>
          <p:nvPr/>
        </p:nvGrpSpPr>
        <p:grpSpPr>
          <a:xfrm>
            <a:off x="605213" y="4674627"/>
            <a:ext cx="8157239" cy="881506"/>
            <a:chOff x="605213" y="4792383"/>
            <a:chExt cx="8157239" cy="881506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43193645-4E75-9126-8AD7-868198931F36}"/>
                </a:ext>
              </a:extLst>
            </p:cNvPr>
            <p:cNvSpPr/>
            <p:nvPr/>
          </p:nvSpPr>
          <p:spPr>
            <a:xfrm>
              <a:off x="605213" y="4792383"/>
              <a:ext cx="8157239" cy="881506"/>
            </a:xfrm>
            <a:prstGeom prst="roundRect">
              <a:avLst>
                <a:gd name="adj" fmla="val 775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9F19E6DA-CE00-D3FE-CFCB-419D70A2CC22}"/>
                </a:ext>
              </a:extLst>
            </p:cNvPr>
            <p:cNvSpPr/>
            <p:nvPr/>
          </p:nvSpPr>
          <p:spPr>
            <a:xfrm>
              <a:off x="881507" y="5042361"/>
              <a:ext cx="2276133" cy="42101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损失计算模块</a:t>
              </a:r>
              <a:endParaRPr 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5F3AF215-4E9E-878D-1001-9A99084FB0C5}"/>
                </a:ext>
              </a:extLst>
            </p:cNvPr>
            <p:cNvSpPr/>
            <p:nvPr/>
          </p:nvSpPr>
          <p:spPr>
            <a:xfrm>
              <a:off x="3507392" y="5042361"/>
              <a:ext cx="2276133" cy="42101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阈值判断模块</a:t>
              </a:r>
              <a:endParaRPr 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9BF62585-5F85-8002-7534-30D6B9DE7EA1}"/>
                </a:ext>
              </a:extLst>
            </p:cNvPr>
            <p:cNvSpPr/>
            <p:nvPr/>
          </p:nvSpPr>
          <p:spPr>
            <a:xfrm>
              <a:off x="6096000" y="5042360"/>
              <a:ext cx="2276133" cy="42101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增量训练模块</a:t>
              </a:r>
              <a:endParaRPr 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9D5C34A-AE9C-4E53-1232-9FBC62F8DC43}"/>
              </a:ext>
            </a:extLst>
          </p:cNvPr>
          <p:cNvGrpSpPr/>
          <p:nvPr/>
        </p:nvGrpSpPr>
        <p:grpSpPr>
          <a:xfrm>
            <a:off x="605213" y="5798879"/>
            <a:ext cx="8157239" cy="881506"/>
            <a:chOff x="605213" y="5905789"/>
            <a:chExt cx="8157239" cy="881506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E9CA941C-263E-0BE2-9103-B949364FD63B}"/>
                </a:ext>
              </a:extLst>
            </p:cNvPr>
            <p:cNvSpPr/>
            <p:nvPr/>
          </p:nvSpPr>
          <p:spPr>
            <a:xfrm>
              <a:off x="605213" y="5905789"/>
              <a:ext cx="8157239" cy="881506"/>
            </a:xfrm>
            <a:prstGeom prst="roundRect">
              <a:avLst>
                <a:gd name="adj" fmla="val 775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BF6B6502-78DF-275C-B382-C104D9A21CDE}"/>
                </a:ext>
              </a:extLst>
            </p:cNvPr>
            <p:cNvSpPr/>
            <p:nvPr/>
          </p:nvSpPr>
          <p:spPr>
            <a:xfrm>
              <a:off x="2019573" y="6155767"/>
              <a:ext cx="2276133" cy="42101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结果传输模块</a:t>
              </a:r>
              <a:endParaRPr 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E80EFBC1-595F-3038-4499-DB6090AE7B88}"/>
                </a:ext>
              </a:extLst>
            </p:cNvPr>
            <p:cNvSpPr/>
            <p:nvPr/>
          </p:nvSpPr>
          <p:spPr>
            <a:xfrm>
              <a:off x="4957933" y="6155767"/>
              <a:ext cx="2276133" cy="42101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控制策略模块</a:t>
              </a:r>
              <a:endParaRPr 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059B3FC7-D51E-ECEB-111C-10479841E3AF}"/>
              </a:ext>
            </a:extLst>
          </p:cNvPr>
          <p:cNvSpPr txBox="1"/>
          <p:nvPr/>
        </p:nvSpPr>
        <p:spPr>
          <a:xfrm>
            <a:off x="8920608" y="433702"/>
            <a:ext cx="2662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数据采集单元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402F83-FB44-7483-A62A-14696E1225E0}"/>
              </a:ext>
            </a:extLst>
          </p:cNvPr>
          <p:cNvSpPr txBox="1"/>
          <p:nvPr/>
        </p:nvSpPr>
        <p:spPr>
          <a:xfrm>
            <a:off x="8920608" y="1480767"/>
            <a:ext cx="2662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预处理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单元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6B89C5-F601-3ADB-F103-E1B6FB6E288C}"/>
              </a:ext>
            </a:extLst>
          </p:cNvPr>
          <p:cNvSpPr txBox="1"/>
          <p:nvPr/>
        </p:nvSpPr>
        <p:spPr>
          <a:xfrm>
            <a:off x="8920608" y="2587037"/>
            <a:ext cx="2662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特征解耦单元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F981BA7-A065-1EC4-892D-B7EE8A4D3791}"/>
              </a:ext>
            </a:extLst>
          </p:cNvPr>
          <p:cNvSpPr txBox="1"/>
          <p:nvPr/>
        </p:nvSpPr>
        <p:spPr>
          <a:xfrm>
            <a:off x="8920608" y="3826195"/>
            <a:ext cx="2662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地层分类单元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F1AA0D0-4FF5-98E1-BEB9-99CFF967421D}"/>
              </a:ext>
            </a:extLst>
          </p:cNvPr>
          <p:cNvSpPr txBox="1"/>
          <p:nvPr/>
        </p:nvSpPr>
        <p:spPr>
          <a:xfrm>
            <a:off x="8920608" y="4880687"/>
            <a:ext cx="2662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自适应学习单元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246622-AD06-C340-7224-5E94B6191FD8}"/>
              </a:ext>
            </a:extLst>
          </p:cNvPr>
          <p:cNvSpPr txBox="1"/>
          <p:nvPr/>
        </p:nvSpPr>
        <p:spPr>
          <a:xfrm>
            <a:off x="8920608" y="5935179"/>
            <a:ext cx="2662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反馈控制单元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8E34E8A-6CF0-32CC-1CA7-A9DDE6409A76}"/>
              </a:ext>
            </a:extLst>
          </p:cNvPr>
          <p:cNvCxnSpPr>
            <a:stCxn id="2" idx="2"/>
            <a:endCxn id="17" idx="0"/>
          </p:cNvCxnSpPr>
          <p:nvPr/>
        </p:nvCxnSpPr>
        <p:spPr>
          <a:xfrm>
            <a:off x="4683833" y="1059121"/>
            <a:ext cx="0" cy="2427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221CAC1-C324-5ECB-8BAE-1E990A46502E}"/>
              </a:ext>
            </a:extLst>
          </p:cNvPr>
          <p:cNvCxnSpPr>
            <a:cxnSpLocks/>
            <a:stCxn id="17" idx="2"/>
            <a:endCxn id="22" idx="0"/>
          </p:cNvCxnSpPr>
          <p:nvPr/>
        </p:nvCxnSpPr>
        <p:spPr>
          <a:xfrm>
            <a:off x="4683833" y="2183374"/>
            <a:ext cx="0" cy="2427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AA79727-EE6A-5608-F72D-53063CCB0AE0}"/>
              </a:ext>
            </a:extLst>
          </p:cNvPr>
          <p:cNvCxnSpPr>
            <a:cxnSpLocks/>
            <a:stCxn id="22" idx="2"/>
            <a:endCxn id="26" idx="0"/>
          </p:cNvCxnSpPr>
          <p:nvPr/>
        </p:nvCxnSpPr>
        <p:spPr>
          <a:xfrm>
            <a:off x="4683833" y="3307627"/>
            <a:ext cx="0" cy="2427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EEBFF0A-D8CC-C485-5B2A-25166867AD14}"/>
              </a:ext>
            </a:extLst>
          </p:cNvPr>
          <p:cNvCxnSpPr>
            <a:cxnSpLocks/>
            <a:stCxn id="26" idx="2"/>
            <a:endCxn id="34" idx="0"/>
          </p:cNvCxnSpPr>
          <p:nvPr/>
        </p:nvCxnSpPr>
        <p:spPr>
          <a:xfrm>
            <a:off x="4683833" y="4431880"/>
            <a:ext cx="0" cy="2427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3F32734-6057-D2C9-5DB7-1914E8E0C1DB}"/>
              </a:ext>
            </a:extLst>
          </p:cNvPr>
          <p:cNvCxnSpPr>
            <a:cxnSpLocks/>
            <a:stCxn id="34" idx="2"/>
            <a:endCxn id="50" idx="0"/>
          </p:cNvCxnSpPr>
          <p:nvPr/>
        </p:nvCxnSpPr>
        <p:spPr>
          <a:xfrm>
            <a:off x="4683833" y="5556133"/>
            <a:ext cx="0" cy="2427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677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60821-1252-36BE-EC52-20A1A9F71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DB758EF-ED8F-C645-4EAA-49510902F3D3}"/>
              </a:ext>
            </a:extLst>
          </p:cNvPr>
          <p:cNvGrpSpPr/>
          <p:nvPr/>
        </p:nvGrpSpPr>
        <p:grpSpPr>
          <a:xfrm>
            <a:off x="514213" y="405550"/>
            <a:ext cx="11163574" cy="3700379"/>
            <a:chOff x="514213" y="405550"/>
            <a:chExt cx="11163574" cy="3700379"/>
          </a:xfrm>
        </p:grpSpPr>
        <p:pic>
          <p:nvPicPr>
            <p:cNvPr id="5" name="Picture 4" descr="A graph of a graph&#10;&#10;AI-generated content may be incorrect.">
              <a:extLst>
                <a:ext uri="{FF2B5EF4-FFF2-40B4-BE49-F238E27FC236}">
                  <a16:creationId xmlns:a16="http://schemas.microsoft.com/office/drawing/2014/main" id="{9D5AB1EB-41E3-1550-D949-22199A2D65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7343"/>
            <a:stretch>
              <a:fillRect/>
            </a:stretch>
          </p:blipFill>
          <p:spPr>
            <a:xfrm>
              <a:off x="514213" y="405550"/>
              <a:ext cx="11163574" cy="3074108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871134A-40B0-1ADB-FFE1-AF775EC33D65}"/>
                </a:ext>
              </a:extLst>
            </p:cNvPr>
            <p:cNvSpPr txBox="1"/>
            <p:nvPr/>
          </p:nvSpPr>
          <p:spPr>
            <a:xfrm>
              <a:off x="2427436" y="3459598"/>
              <a:ext cx="716389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原始数据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→ 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去除异常值 </a:t>
              </a:r>
              <a:r>
                <a:rPr 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→ 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去噪 </a:t>
              </a:r>
              <a:r>
                <a:rPr 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→ 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降维 </a:t>
              </a:r>
              <a:r>
                <a:rPr 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→ 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处理后数据</a:t>
              </a:r>
              <a:endParaRPr 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endParaRPr 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4482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82A2F-AA10-AF9C-E721-57F55E828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4BBAAE-7C97-CE22-4371-B24481822C7D}"/>
              </a:ext>
            </a:extLst>
          </p:cNvPr>
          <p:cNvSpPr/>
          <p:nvPr/>
        </p:nvSpPr>
        <p:spPr>
          <a:xfrm>
            <a:off x="4518049" y="1294760"/>
            <a:ext cx="2593222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监测参数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FDE664-6B4B-845B-F009-879E9DB63650}"/>
              </a:ext>
            </a:extLst>
          </p:cNvPr>
          <p:cNvSpPr/>
          <p:nvPr/>
        </p:nvSpPr>
        <p:spPr>
          <a:xfrm>
            <a:off x="4518049" y="2100628"/>
            <a:ext cx="2593222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协方差矩阵计算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5382E4-52E8-0F24-C712-0C1D4DB0AD90}"/>
              </a:ext>
            </a:extLst>
          </p:cNvPr>
          <p:cNvSpPr/>
          <p:nvPr/>
        </p:nvSpPr>
        <p:spPr>
          <a:xfrm>
            <a:off x="4518049" y="2906496"/>
            <a:ext cx="2593222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响应系数分析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EF1E4B-46DD-1209-BBC7-C2E7069765AA}"/>
              </a:ext>
            </a:extLst>
          </p:cNvPr>
          <p:cNvSpPr/>
          <p:nvPr/>
        </p:nvSpPr>
        <p:spPr>
          <a:xfrm>
            <a:off x="4518049" y="3712364"/>
            <a:ext cx="2593222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阈值判定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035208-38FA-64AD-DE78-EA825A14650B}"/>
              </a:ext>
            </a:extLst>
          </p:cNvPr>
          <p:cNvSpPr/>
          <p:nvPr/>
        </p:nvSpPr>
        <p:spPr>
          <a:xfrm>
            <a:off x="4518049" y="4518231"/>
            <a:ext cx="2593222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被动量判别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CC03088-F4BA-291E-6A88-8E82A5A4577C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5814660" y="1739260"/>
            <a:ext cx="0" cy="361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85CA610-1724-FDC6-E02D-780ABBFA0445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5814660" y="2545128"/>
            <a:ext cx="0" cy="361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E43D83C-2612-84BA-BFFC-75CC5B69C23D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5814660" y="3350996"/>
            <a:ext cx="0" cy="361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69246C0-2AB5-FA04-21DD-F6B502711A0B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5814660" y="4156864"/>
            <a:ext cx="0" cy="3613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810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5CCD7-703C-5159-4505-D927A7237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406BE5-2C59-51BC-D873-41233516D486}"/>
              </a:ext>
            </a:extLst>
          </p:cNvPr>
          <p:cNvSpPr/>
          <p:nvPr/>
        </p:nvSpPr>
        <p:spPr>
          <a:xfrm>
            <a:off x="3702325" y="-531254"/>
            <a:ext cx="4849008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输入层（盾构掘进参数多维特征向量）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323CB2-82D8-7F49-449A-2026AD78BDC4}"/>
              </a:ext>
            </a:extLst>
          </p:cNvPr>
          <p:cNvSpPr/>
          <p:nvPr/>
        </p:nvSpPr>
        <p:spPr>
          <a:xfrm>
            <a:off x="3702325" y="274614"/>
            <a:ext cx="4849008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第一卷积层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通道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，卷积核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FBC2EF-53BB-C88E-6023-EFAA2F60460D}"/>
              </a:ext>
            </a:extLst>
          </p:cNvPr>
          <p:cNvSpPr/>
          <p:nvPr/>
        </p:nvSpPr>
        <p:spPr>
          <a:xfrm>
            <a:off x="3702325" y="1080482"/>
            <a:ext cx="4849008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批归一化层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348242-B524-A973-5788-5A0D937A9096}"/>
              </a:ext>
            </a:extLst>
          </p:cNvPr>
          <p:cNvSpPr/>
          <p:nvPr/>
        </p:nvSpPr>
        <p:spPr>
          <a:xfrm>
            <a:off x="3702325" y="1886350"/>
            <a:ext cx="4849008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ReLU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激活层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D7B1D2-AE68-0DAF-9CE4-FA4FB85C58F2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6126829" y="-86754"/>
            <a:ext cx="0" cy="361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C84C5DB-B436-06D9-44F9-A2B679E782B9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6126829" y="719114"/>
            <a:ext cx="0" cy="361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625BDC4-FF50-2640-AAB0-1A54093515F2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6126829" y="1524982"/>
            <a:ext cx="0" cy="361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7C83595-FF45-A0BC-CE85-92819CFBDE4A}"/>
              </a:ext>
            </a:extLst>
          </p:cNvPr>
          <p:cNvCxnSpPr>
            <a:cxnSpLocks/>
            <a:stCxn id="8" idx="2"/>
            <a:endCxn id="24" idx="0"/>
          </p:cNvCxnSpPr>
          <p:nvPr/>
        </p:nvCxnSpPr>
        <p:spPr>
          <a:xfrm>
            <a:off x="6126829" y="2330850"/>
            <a:ext cx="0" cy="3613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FADAA5D-941B-D227-4AAA-D9FA21ADA798}"/>
              </a:ext>
            </a:extLst>
          </p:cNvPr>
          <p:cNvSpPr/>
          <p:nvPr/>
        </p:nvSpPr>
        <p:spPr>
          <a:xfrm>
            <a:off x="3702325" y="2692217"/>
            <a:ext cx="4849008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第二卷积层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通道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，卷积核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9B2763-A8FE-7868-0AD0-760B9CC5B936}"/>
              </a:ext>
            </a:extLst>
          </p:cNvPr>
          <p:cNvSpPr/>
          <p:nvPr/>
        </p:nvSpPr>
        <p:spPr>
          <a:xfrm>
            <a:off x="3702325" y="3498085"/>
            <a:ext cx="4849008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批归一化层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9A227B-9F13-6C6D-6D09-5174609C7177}"/>
              </a:ext>
            </a:extLst>
          </p:cNvPr>
          <p:cNvSpPr/>
          <p:nvPr/>
        </p:nvSpPr>
        <p:spPr>
          <a:xfrm>
            <a:off x="3702325" y="4303953"/>
            <a:ext cx="4849008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ReLU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激活层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0B1D632-E189-BB88-E3D2-1A77F4C13E0A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6126829" y="3136717"/>
            <a:ext cx="0" cy="361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23477FC-55D3-DD19-1367-DA7C5F187EE9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>
            <a:off x="6126829" y="3942585"/>
            <a:ext cx="0" cy="361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A93BC5D-CBC9-A07E-782D-421337459F6F}"/>
              </a:ext>
            </a:extLst>
          </p:cNvPr>
          <p:cNvCxnSpPr>
            <a:cxnSpLocks/>
            <a:stCxn id="26" idx="2"/>
            <a:endCxn id="31" idx="0"/>
          </p:cNvCxnSpPr>
          <p:nvPr/>
        </p:nvCxnSpPr>
        <p:spPr>
          <a:xfrm>
            <a:off x="6126829" y="4748453"/>
            <a:ext cx="0" cy="3613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4CD02B5C-2317-5D6F-3FB8-5CB5DEA27834}"/>
              </a:ext>
            </a:extLst>
          </p:cNvPr>
          <p:cNvSpPr/>
          <p:nvPr/>
        </p:nvSpPr>
        <p:spPr>
          <a:xfrm>
            <a:off x="3702325" y="5109820"/>
            <a:ext cx="4849008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扁平化层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350118B-11A4-030C-E61F-CE6BA1558B3F}"/>
              </a:ext>
            </a:extLst>
          </p:cNvPr>
          <p:cNvSpPr/>
          <p:nvPr/>
        </p:nvSpPr>
        <p:spPr>
          <a:xfrm>
            <a:off x="3702325" y="5916636"/>
            <a:ext cx="4849008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全连接层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48C18B5-94A2-E8FA-4196-2E14FB4BC874}"/>
              </a:ext>
            </a:extLst>
          </p:cNvPr>
          <p:cNvCxnSpPr>
            <a:cxnSpLocks/>
            <a:stCxn id="31" idx="2"/>
            <a:endCxn id="33" idx="0"/>
          </p:cNvCxnSpPr>
          <p:nvPr/>
        </p:nvCxnSpPr>
        <p:spPr>
          <a:xfrm>
            <a:off x="6126829" y="5554320"/>
            <a:ext cx="0" cy="3623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84285200-E291-15FC-5E0E-5AE2EBDD8AD4}"/>
              </a:ext>
            </a:extLst>
          </p:cNvPr>
          <p:cNvSpPr/>
          <p:nvPr/>
        </p:nvSpPr>
        <p:spPr>
          <a:xfrm>
            <a:off x="3702325" y="6723452"/>
            <a:ext cx="4849008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Softmax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输出层（围岩分级）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795C55E-C6FC-095F-21E0-C6C74FD67BAD}"/>
              </a:ext>
            </a:extLst>
          </p:cNvPr>
          <p:cNvCxnSpPr>
            <a:cxnSpLocks/>
            <a:stCxn id="33" idx="2"/>
            <a:endCxn id="37" idx="0"/>
          </p:cNvCxnSpPr>
          <p:nvPr/>
        </p:nvCxnSpPr>
        <p:spPr>
          <a:xfrm>
            <a:off x="6126829" y="6361136"/>
            <a:ext cx="0" cy="3623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4643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C1757-7A42-22CA-AD1D-58C0BE819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587F186-C7C6-717E-1C2D-53B40927FC94}"/>
              </a:ext>
            </a:extLst>
          </p:cNvPr>
          <p:cNvSpPr/>
          <p:nvPr/>
        </p:nvSpPr>
        <p:spPr>
          <a:xfrm>
            <a:off x="1105982" y="2984500"/>
            <a:ext cx="1815018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新数据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B0008A-A35B-7D20-902C-7EB9EC338E80}"/>
              </a:ext>
            </a:extLst>
          </p:cNvPr>
          <p:cNvSpPr/>
          <p:nvPr/>
        </p:nvSpPr>
        <p:spPr>
          <a:xfrm>
            <a:off x="3485116" y="2984500"/>
            <a:ext cx="1815018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模型推理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B9AC00-2B68-B7C1-EE00-1E38705ED353}"/>
              </a:ext>
            </a:extLst>
          </p:cNvPr>
          <p:cNvSpPr/>
          <p:nvPr/>
        </p:nvSpPr>
        <p:spPr>
          <a:xfrm>
            <a:off x="5864250" y="2984500"/>
            <a:ext cx="1815018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损失计算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51C775-7EBB-C853-FF4B-5992708019A8}"/>
              </a:ext>
            </a:extLst>
          </p:cNvPr>
          <p:cNvSpPr/>
          <p:nvPr/>
        </p:nvSpPr>
        <p:spPr>
          <a:xfrm>
            <a:off x="5864250" y="1866900"/>
            <a:ext cx="1815018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权重微调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1E9AF5-4377-7811-3BE9-9CBBAC1378EF}"/>
              </a:ext>
            </a:extLst>
          </p:cNvPr>
          <p:cNvSpPr/>
          <p:nvPr/>
        </p:nvSpPr>
        <p:spPr>
          <a:xfrm>
            <a:off x="3485116" y="1866900"/>
            <a:ext cx="1815018" cy="444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模型更新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3296ABE-F316-3671-A7F6-4139727B88F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921000" y="3206750"/>
            <a:ext cx="5641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F7590C2-8E7F-9284-E22F-0076DC4597FE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300134" y="3206750"/>
            <a:ext cx="5641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FB62A89-7F65-9A81-A920-E6D1307837A5}"/>
              </a:ext>
            </a:extLst>
          </p:cNvPr>
          <p:cNvCxnSpPr>
            <a:cxnSpLocks/>
            <a:stCxn id="7" idx="3"/>
            <a:endCxn id="44" idx="1"/>
          </p:cNvCxnSpPr>
          <p:nvPr/>
        </p:nvCxnSpPr>
        <p:spPr>
          <a:xfrm flipV="1">
            <a:off x="7679268" y="3206749"/>
            <a:ext cx="63554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4DF33F62-EB58-4CCB-A9A7-4326532D3DBF}"/>
              </a:ext>
            </a:extLst>
          </p:cNvPr>
          <p:cNvCxnSpPr>
            <a:cxnSpLocks/>
            <a:stCxn id="44" idx="0"/>
            <a:endCxn id="10" idx="3"/>
          </p:cNvCxnSpPr>
          <p:nvPr/>
        </p:nvCxnSpPr>
        <p:spPr>
          <a:xfrm rot="16200000" flipV="1">
            <a:off x="8148245" y="1620173"/>
            <a:ext cx="827616" cy="176557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70A6CBC-D75E-5918-87E6-9097EB478AF6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300134" y="2089150"/>
            <a:ext cx="5641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08B2DE4-2625-ECE5-E8C9-0B7954100E1B}"/>
              </a:ext>
            </a:extLst>
          </p:cNvPr>
          <p:cNvCxnSpPr>
            <a:stCxn id="11" idx="2"/>
            <a:endCxn id="6" idx="0"/>
          </p:cNvCxnSpPr>
          <p:nvPr/>
        </p:nvCxnSpPr>
        <p:spPr>
          <a:xfrm>
            <a:off x="4392625" y="2311400"/>
            <a:ext cx="0" cy="6731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E9344C0E-6CEC-A5FE-BE60-910CD47B16F4}"/>
              </a:ext>
            </a:extLst>
          </p:cNvPr>
          <p:cNvCxnSpPr>
            <a:cxnSpLocks/>
            <a:stCxn id="44" idx="2"/>
            <a:endCxn id="6" idx="2"/>
          </p:cNvCxnSpPr>
          <p:nvPr/>
        </p:nvCxnSpPr>
        <p:spPr>
          <a:xfrm rot="5400000" flipH="1">
            <a:off x="6884866" y="936760"/>
            <a:ext cx="67732" cy="5052213"/>
          </a:xfrm>
          <a:prstGeom prst="bentConnector3">
            <a:avLst>
              <a:gd name="adj1" fmla="val -97502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43B1699-8F29-C1C2-CF54-B0393E3F243B}"/>
              </a:ext>
            </a:extLst>
          </p:cNvPr>
          <p:cNvSpPr txBox="1"/>
          <p:nvPr/>
        </p:nvSpPr>
        <p:spPr>
          <a:xfrm>
            <a:off x="8872281" y="2392918"/>
            <a:ext cx="697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是</a:t>
            </a:r>
            <a:endParaRPr lang="en-US" dirty="0"/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430F7D84-6E52-26A4-BA70-39050CFAFE89}"/>
              </a:ext>
            </a:extLst>
          </p:cNvPr>
          <p:cNvSpPr/>
          <p:nvPr/>
        </p:nvSpPr>
        <p:spPr>
          <a:xfrm>
            <a:off x="8314809" y="2916766"/>
            <a:ext cx="2260057" cy="579966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超阈值？</a:t>
            </a:r>
            <a:endParaRPr 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E3886B-22E2-E0C7-5259-C4F042563F6B}"/>
              </a:ext>
            </a:extLst>
          </p:cNvPr>
          <p:cNvSpPr txBox="1"/>
          <p:nvPr/>
        </p:nvSpPr>
        <p:spPr>
          <a:xfrm>
            <a:off x="8872281" y="3718981"/>
            <a:ext cx="697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737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18139-1771-D28F-A7EC-60EF9B75A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104A75ED-AAA5-5CA9-3C8F-3EC4EF96F7F4}"/>
              </a:ext>
            </a:extLst>
          </p:cNvPr>
          <p:cNvGrpSpPr/>
          <p:nvPr/>
        </p:nvGrpSpPr>
        <p:grpSpPr>
          <a:xfrm>
            <a:off x="174599" y="1449361"/>
            <a:ext cx="11850811" cy="3805264"/>
            <a:chOff x="174599" y="1449361"/>
            <a:chExt cx="11850811" cy="38052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04462B7-2A6B-25AF-1AC5-3D666E00EA9C}"/>
                </a:ext>
              </a:extLst>
            </p:cNvPr>
            <p:cNvSpPr/>
            <p:nvPr/>
          </p:nvSpPr>
          <p:spPr>
            <a:xfrm>
              <a:off x="527690" y="2792946"/>
              <a:ext cx="494660" cy="12329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F36CCBC-21C0-B681-6B81-3625D329E7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739" y="1693836"/>
              <a:ext cx="11605671" cy="33163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0D98CFA-B913-6490-377F-6E83F982F214}"/>
                </a:ext>
              </a:extLst>
            </p:cNvPr>
            <p:cNvSpPr/>
            <p:nvPr/>
          </p:nvSpPr>
          <p:spPr>
            <a:xfrm>
              <a:off x="5168900" y="1449361"/>
              <a:ext cx="2501900" cy="4889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8FEEC67-77EA-B001-2851-D36804640CFA}"/>
                </a:ext>
              </a:extLst>
            </p:cNvPr>
            <p:cNvSpPr txBox="1"/>
            <p:nvPr/>
          </p:nvSpPr>
          <p:spPr>
            <a:xfrm>
              <a:off x="5168900" y="1509170"/>
              <a:ext cx="3084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地层分类预测与真值对比图</a:t>
              </a:r>
              <a:endParaRPr 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FB6AD96-5445-04D4-EB18-481085C09F7E}"/>
                </a:ext>
              </a:extLst>
            </p:cNvPr>
            <p:cNvSpPr/>
            <p:nvPr/>
          </p:nvSpPr>
          <p:spPr>
            <a:xfrm>
              <a:off x="5168900" y="4765675"/>
              <a:ext cx="2501900" cy="4889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905DAB0-3ECA-3780-CFA8-DE304CF09259}"/>
                </a:ext>
              </a:extLst>
            </p:cNvPr>
            <p:cNvSpPr txBox="1"/>
            <p:nvPr/>
          </p:nvSpPr>
          <p:spPr>
            <a:xfrm>
              <a:off x="4986081" y="4825484"/>
              <a:ext cx="3084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采样点序号</a:t>
              </a:r>
              <a:endParaRPr 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9B6F8B5-8009-7EC2-97D6-0407FC105367}"/>
                </a:ext>
              </a:extLst>
            </p:cNvPr>
            <p:cNvSpPr/>
            <p:nvPr/>
          </p:nvSpPr>
          <p:spPr>
            <a:xfrm rot="16200000">
              <a:off x="-831876" y="3038624"/>
              <a:ext cx="2501900" cy="4889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5EF42B2-4A22-53D0-3972-C7DFBB56B3B6}"/>
                </a:ext>
              </a:extLst>
            </p:cNvPr>
            <p:cNvSpPr txBox="1"/>
            <p:nvPr/>
          </p:nvSpPr>
          <p:spPr>
            <a:xfrm rot="16200000">
              <a:off x="-1014695" y="3098433"/>
              <a:ext cx="30847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分类结果</a:t>
              </a:r>
              <a:endParaRPr 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7422326-D052-CF1F-B67C-3E7C1F17E9EB}"/>
                </a:ext>
              </a:extLst>
            </p:cNvPr>
            <p:cNvSpPr/>
            <p:nvPr/>
          </p:nvSpPr>
          <p:spPr>
            <a:xfrm>
              <a:off x="11148483" y="2065311"/>
              <a:ext cx="662517" cy="2905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B137C84-A2FA-AAA3-A0DC-3283F99F0B49}"/>
                </a:ext>
              </a:extLst>
            </p:cNvPr>
            <p:cNvSpPr txBox="1"/>
            <p:nvPr/>
          </p:nvSpPr>
          <p:spPr>
            <a:xfrm>
              <a:off x="11148483" y="2011511"/>
              <a:ext cx="52123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</a:rPr>
                <a:t>真值</a:t>
              </a:r>
              <a:endParaRPr lang="en-US" sz="9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8242365-FEBC-E754-7142-304CB83225D8}"/>
                </a:ext>
              </a:extLst>
            </p:cNvPr>
            <p:cNvSpPr txBox="1"/>
            <p:nvPr/>
          </p:nvSpPr>
          <p:spPr>
            <a:xfrm>
              <a:off x="11148483" y="2168321"/>
              <a:ext cx="52123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</a:rPr>
                <a:t>预测</a:t>
              </a:r>
              <a:endParaRPr lang="en-US" sz="9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0432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426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宋体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#CUI SHUAIWEN#</dc:creator>
  <cp:lastModifiedBy>#CUI SHUAIWEN#</cp:lastModifiedBy>
  <cp:revision>14</cp:revision>
  <dcterms:created xsi:type="dcterms:W3CDTF">2025-11-21T08:26:26Z</dcterms:created>
  <dcterms:modified xsi:type="dcterms:W3CDTF">2025-11-21T11:18:38Z</dcterms:modified>
</cp:coreProperties>
</file>